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63" r:id="rId7"/>
    <p:sldId id="264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aca0320-e82b-7acb-6f26-29f089e6dddc}">
          <p14:sldIdLst>
            <p14:sldId id="256"/>
          </p14:sldIdLst>
        </p14:section>
        <p14:section name="Context" id="{f4d9e9e3-1eac-1547-00db-78fe3f1ae883}">
          <p14:sldIdLst>
            <p14:sldId id="257"/>
          </p14:sldIdLst>
        </p14:section>
        <p14:section name="Product" id="{4c507740-2cda-5934-ffe4-939776d70227}">
          <p14:sldIdLst>
            <p14:sldId id="262"/>
          </p14:sldIdLst>
        </p14:section>
        <p14:section name="Output" id="{25f8db0f-6065-da0d-953c-12185e974fec}">
          <p14:sldIdLst>
            <p14:sldId id="263"/>
            <p14:sldId id="264"/>
          </p14:sldIdLst>
        </p14:section>
        <p14:section name="Close" id="{4f7abb59-72fd-ab7e-5481-0b9f552d82c8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EA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1417320"/>
            <a:ext cx="5120640" cy="8686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640080" y="2423160"/>
            <a:ext cx="4846320" cy="7772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141732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1"/>
                </a:solidFill>
              </a:rPr>
              <a:t>CareOps</a:t>
            </a:r>
            <a:endParaRPr lang="en-US" sz="54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640080" y="242316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From complex data to actionable decisions.</a:t>
            </a:r>
            <a:endParaRPr lang="en-US" sz="2200" dirty="0"/>
          </a:p>
        </p:txBody>
      </p:sp>
      <p:sp>
        <p:nvSpPr>
          <p:cNvPr id="4" name="Description"/>
          <p:cNvSpPr txBox="1"/>
          <p:nvPr/>
        </p:nvSpPr>
        <p:spPr>
          <a:xfrm>
            <a:off x="640080" y="333756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Evidence-backed AI decision support that turns complex member data into clear, actionable decisions for health plans and care teams.</a:t>
            </a:r>
            <a:endParaRPr lang="en-US" sz="1400" dirty="0"/>
          </a:p>
        </p:txBody>
      </p:sp>
      <p:sp>
        <p:nvSpPr>
          <p:cNvPr id="5" name="Big circle"/>
          <p:cNvSpPr/>
          <p:nvPr/>
        </p:nvSpPr>
        <p:spPr>
          <a:xfrm>
            <a:off x="5760720" y="777240"/>
            <a:ext cx="3017520" cy="3017520"/>
          </a:xfrm>
          <a:prstGeom prst="ellipse">
            <a:avLst/>
          </a:prstGeom>
          <a:solidFill>
            <a:schemeClr val="accent6"/>
          </a:solidFill>
        </p:spPr>
      </p:sp>
      <p:sp>
        <p:nvSpPr>
          <p:cNvPr id="6" name="Logo circle"/>
          <p:cNvSpPr/>
          <p:nvPr/>
        </p:nvSpPr>
        <p:spPr>
          <a:xfrm>
            <a:off x="6172200" y="1188720"/>
            <a:ext cx="2194560" cy="2194560"/>
          </a:xfrm>
          <a:prstGeom prst="ellipse">
            <a:avLst/>
          </a:prstGeom>
          <a:solidFill>
            <a:schemeClr val="bg1"/>
          </a:solidFill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pic>
        <p:nvPicPr>
          <p:cNvPr id="7" name="CareOps logo mark" descr="CareOps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1371600" cy="1371600"/>
          </a:xfrm>
          <a:prstGeom prst="rect">
            <a:avLst/>
          </a:prstGeom>
        </p:spPr>
      </p:pic>
      <p:sp>
        <p:nvSpPr>
          <p:cNvPr id="8" name="Dot 1"/>
          <p:cNvSpPr/>
          <p:nvPr/>
        </p:nvSpPr>
        <p:spPr>
          <a:xfrm>
            <a:off x="8321040" y="548640"/>
            <a:ext cx="411480" cy="411480"/>
          </a:xfrm>
          <a:prstGeom prst="ellipse">
            <a:avLst/>
          </a:prstGeom>
          <a:solidFill>
            <a:schemeClr val="accent1">
              <a:alpha val="35000"/>
            </a:schemeClr>
          </a:solidFill>
        </p:spPr>
      </p:sp>
      <p:sp>
        <p:nvSpPr>
          <p:cNvPr id="9" name="Dot 2"/>
          <p:cNvSpPr/>
          <p:nvPr/>
        </p:nvSpPr>
        <p:spPr>
          <a:xfrm>
            <a:off x="5669280" y="3657600"/>
            <a:ext cx="640080" cy="640080"/>
          </a:xfrm>
          <a:prstGeom prst="ellipse">
            <a:avLst/>
          </a:prstGeom>
          <a:solidFill>
            <a:schemeClr val="accent6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chronic care challenge</a:t>
            </a:r>
            <a:endParaRPr lang="en-US" sz="3000" dirty="0"/>
          </a:p>
        </p:txBody>
      </p:sp>
      <p:sp>
        <p:nvSpPr>
          <p:cNvPr id="3" name="Context label"/>
          <p:cNvSpPr txBox="1"/>
          <p:nvPr/>
        </p:nvSpPr>
        <p:spPr>
          <a:xfrm>
            <a:off x="457200" y="941832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5"/>
                </a:solidFill>
              </a:rPr>
              <a:t>INDUSTRY CONTEXT</a:t>
            </a:r>
            <a:endParaRPr lang="en-US" sz="1000" dirty="0"/>
          </a:p>
        </p:txBody>
      </p:sp>
      <p:sp>
        <p:nvSpPr>
          <p:cNvPr id="4" name="Stat card 1"/>
          <p:cNvSpPr/>
          <p:nvPr/>
        </p:nvSpPr>
        <p:spPr>
          <a:xfrm>
            <a:off x="457200" y="118872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5" name="Stat 1"/>
          <p:cNvSpPr txBox="1"/>
          <p:nvPr/>
        </p:nvSpPr>
        <p:spPr>
          <a:xfrm>
            <a:off x="640080" y="126187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~90%</a:t>
            </a:r>
            <a:endParaRPr lang="en-US" sz="3000" dirty="0"/>
          </a:p>
        </p:txBody>
      </p:sp>
      <p:sp>
        <p:nvSpPr>
          <p:cNvPr id="6" name="Stat label 1"/>
          <p:cNvSpPr txBox="1"/>
          <p:nvPr/>
        </p:nvSpPr>
        <p:spPr>
          <a:xfrm>
            <a:off x="640080" y="17373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of the $4.1–4.5T spent yearly on U.S. healthcare goes to chronic disease. (CDC)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3268980" y="118872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8" name="Stat 2"/>
          <p:cNvSpPr txBox="1"/>
          <p:nvPr/>
        </p:nvSpPr>
        <p:spPr>
          <a:xfrm>
            <a:off x="3451860" y="126187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1.5–2x</a:t>
            </a:r>
            <a:endParaRPr lang="en-US" sz="3000" dirty="0"/>
          </a:p>
        </p:txBody>
      </p:sp>
      <p:sp>
        <p:nvSpPr>
          <p:cNvPr id="9" name="Stat label 2"/>
          <p:cNvSpPr txBox="1"/>
          <p:nvPr/>
        </p:nvSpPr>
        <p:spPr>
          <a:xfrm>
            <a:off x="3451860" y="17373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higher CMS capitated payments for C-SNP members than for the average member.</a:t>
            </a:r>
            <a:endParaRPr lang="en-US" sz="1100" dirty="0"/>
          </a:p>
        </p:txBody>
      </p:sp>
      <p:sp>
        <p:nvSpPr>
          <p:cNvPr id="10" name="Stat card 3"/>
          <p:cNvSpPr/>
          <p:nvPr/>
        </p:nvSpPr>
        <p:spPr>
          <a:xfrm>
            <a:off x="6080760" y="1188720"/>
            <a:ext cx="260604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1" name="Stat 3"/>
          <p:cNvSpPr txBox="1"/>
          <p:nvPr/>
        </p:nvSpPr>
        <p:spPr>
          <a:xfrm>
            <a:off x="6263640" y="126187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2x+</a:t>
            </a:r>
            <a:endParaRPr lang="en-US" sz="3000" dirty="0"/>
          </a:p>
        </p:txBody>
      </p:sp>
      <p:sp>
        <p:nvSpPr>
          <p:cNvPr id="12" name="Stat label 3"/>
          <p:cNvSpPr txBox="1"/>
          <p:nvPr/>
        </p:nvSpPr>
        <p:spPr>
          <a:xfrm>
            <a:off x="6263640" y="17373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growth in C-SNP enrollment in recent years. (L.E.K.)</a:t>
            </a:r>
            <a:endParaRPr lang="en-US" sz="1100" dirty="0"/>
          </a:p>
        </p:txBody>
      </p:sp>
      <p:sp>
        <p:nvSpPr>
          <p:cNvPr id="13" name="Struggle label"/>
          <p:cNvSpPr txBox="1"/>
          <p:nvPr/>
        </p:nvSpPr>
        <p:spPr>
          <a:xfrm>
            <a:off x="457200" y="2487168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5"/>
                </a:solidFill>
              </a:rPr>
              <a:t>WHERE TEAMS STRUGGLE TODAY</a:t>
            </a:r>
            <a:endParaRPr lang="en-US" sz="1000" dirty="0"/>
          </a:p>
        </p:txBody>
      </p:sp>
      <p:sp>
        <p:nvSpPr>
          <p:cNvPr id="14" name="Card Clinical gap"/>
          <p:cNvSpPr/>
          <p:nvPr/>
        </p:nvSpPr>
        <p:spPr>
          <a:xfrm>
            <a:off x="457200" y="274320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5" name="Icon Clinical gap bg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</p:sp>
      <p:pic>
        <p:nvPicPr>
          <p:cNvPr id="16" name="Icon Clinical gap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80" y="2991460"/>
            <a:ext cx="189281" cy="189281"/>
          </a:xfrm>
          <a:prstGeom prst="rect">
            <a:avLst/>
          </a:prstGeom>
        </p:spPr>
      </p:pic>
      <p:sp>
        <p:nvSpPr>
          <p:cNvPr id="17" name="Head Clinical gap"/>
          <p:cNvSpPr txBox="1"/>
          <p:nvPr/>
        </p:nvSpPr>
        <p:spPr>
          <a:xfrm>
            <a:off x="1188720" y="288036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Clinical gap</a:t>
            </a:r>
            <a:endParaRPr lang="en-US" sz="1600" dirty="0"/>
          </a:p>
        </p:txBody>
      </p:sp>
      <p:sp>
        <p:nvSpPr>
          <p:cNvPr id="18" name="Body Clinical gap"/>
          <p:cNvSpPr txBox="1"/>
          <p:nvPr/>
        </p:nvSpPr>
        <p:spPr>
          <a:xfrm>
            <a:off x="640080" y="342900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High-risk members miss appointments, so deterioration is caught late and avoidable ER visits increase.</a:t>
            </a:r>
            <a:endParaRPr lang="en-US" sz="1200" dirty="0"/>
          </a:p>
        </p:txBody>
      </p:sp>
      <p:sp>
        <p:nvSpPr>
          <p:cNvPr id="19" name="Card Plan optimization"/>
          <p:cNvSpPr/>
          <p:nvPr/>
        </p:nvSpPr>
        <p:spPr>
          <a:xfrm>
            <a:off x="3268980" y="274320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0" name="Icon Plan optimization bg"/>
          <p:cNvSpPr/>
          <p:nvPr/>
        </p:nvSpPr>
        <p:spPr>
          <a:xfrm>
            <a:off x="3451860" y="2880360"/>
            <a:ext cx="411480" cy="411480"/>
          </a:xfrm>
          <a:prstGeom prst="ellipse">
            <a:avLst/>
          </a:prstGeom>
          <a:solidFill>
            <a:schemeClr val="accent2">
              <a:alpha val="15000"/>
            </a:schemeClr>
          </a:solidFill>
        </p:spPr>
      </p:sp>
      <p:pic>
        <p:nvPicPr>
          <p:cNvPr id="21" name="Icon Plan optimizati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960" y="2991460"/>
            <a:ext cx="189281" cy="189281"/>
          </a:xfrm>
          <a:prstGeom prst="rect">
            <a:avLst/>
          </a:prstGeom>
        </p:spPr>
      </p:pic>
      <p:sp>
        <p:nvSpPr>
          <p:cNvPr id="22" name="Head Plan optimization"/>
          <p:cNvSpPr txBox="1"/>
          <p:nvPr/>
        </p:nvSpPr>
        <p:spPr>
          <a:xfrm>
            <a:off x="4000500" y="288036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Plan optimization</a:t>
            </a:r>
            <a:endParaRPr lang="en-US" sz="1600" dirty="0"/>
          </a:p>
        </p:txBody>
      </p:sp>
      <p:sp>
        <p:nvSpPr>
          <p:cNvPr id="23" name="Body Plan optimization"/>
          <p:cNvSpPr txBox="1"/>
          <p:nvPr/>
        </p:nvSpPr>
        <p:spPr>
          <a:xfrm>
            <a:off x="3451860" y="342900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Incomplete documentation of illness burden leads to inaccurate risk-adjustment payments.</a:t>
            </a:r>
            <a:endParaRPr lang="en-US" sz="1200" dirty="0"/>
          </a:p>
        </p:txBody>
      </p:sp>
      <p:sp>
        <p:nvSpPr>
          <p:cNvPr id="24" name="Card Care navigation"/>
          <p:cNvSpPr/>
          <p:nvPr/>
        </p:nvSpPr>
        <p:spPr>
          <a:xfrm>
            <a:off x="6080760" y="274320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5" name="Icon Care navigation bg"/>
          <p:cNvSpPr/>
          <p:nvPr/>
        </p:nvSpPr>
        <p:spPr>
          <a:xfrm>
            <a:off x="6263640" y="2880360"/>
            <a:ext cx="411480" cy="411480"/>
          </a:xfrm>
          <a:prstGeom prst="ellipse">
            <a:avLst/>
          </a:prstGeom>
          <a:solidFill>
            <a:schemeClr val="accent4">
              <a:alpha val="15000"/>
            </a:schemeClr>
          </a:solidFill>
        </p:spPr>
      </p:sp>
      <p:pic>
        <p:nvPicPr>
          <p:cNvPr id="26" name="Icon Care navigati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740" y="2991460"/>
            <a:ext cx="189281" cy="189281"/>
          </a:xfrm>
          <a:prstGeom prst="rect">
            <a:avLst/>
          </a:prstGeom>
        </p:spPr>
      </p:pic>
      <p:sp>
        <p:nvSpPr>
          <p:cNvPr id="27" name="Head Care navigation"/>
          <p:cNvSpPr txBox="1"/>
          <p:nvPr/>
        </p:nvSpPr>
        <p:spPr>
          <a:xfrm>
            <a:off x="6812280" y="288036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Care navigation</a:t>
            </a:r>
            <a:endParaRPr lang="en-US" sz="1600" dirty="0"/>
          </a:p>
        </p:txBody>
      </p:sp>
      <p:sp>
        <p:nvSpPr>
          <p:cNvPr id="28" name="Body Care navigation"/>
          <p:cNvSpPr txBox="1"/>
          <p:nvPr/>
        </p:nvSpPr>
        <p:spPr>
          <a:xfrm>
            <a:off x="6263640" y="342900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Navigators sort through spreadsheets to find members who may qualify for a C-SNP and to support an SEP.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How CareOps works</a:t>
            </a:r>
            <a:endParaRPr lang="en-US" sz="3000" dirty="0"/>
          </a:p>
        </p:txBody>
      </p:sp>
      <p:sp>
        <p:nvSpPr>
          <p:cNvPr id="3" name="Diagram panel"/>
          <p:cNvSpPr/>
          <p:nvPr/>
        </p:nvSpPr>
        <p:spPr>
          <a:xfrm>
            <a:off x="457200" y="100584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pic>
        <p:nvPicPr>
          <p:cNvPr id="4" name="Architecture diagram" descr="CareOps architecture: member context, smart AI routing, governed rules, synthesis and safety, workflow hand-of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69848"/>
            <a:ext cx="8046720" cy="2610577"/>
          </a:xfrm>
          <a:prstGeom prst="rect">
            <a:avLst/>
          </a:prstGeom>
        </p:spPr>
      </p:pic>
      <p:sp>
        <p:nvSpPr>
          <p:cNvPr id="5" name="Icon Smart routing bg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</p:sp>
      <p:pic>
        <p:nvPicPr>
          <p:cNvPr id="6" name="Icon Smart routing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4101084"/>
            <a:ext cx="210312" cy="210312"/>
          </a:xfrm>
          <a:prstGeom prst="rect">
            <a:avLst/>
          </a:prstGeom>
        </p:spPr>
      </p:pic>
      <p:sp>
        <p:nvSpPr>
          <p:cNvPr id="7" name="Head Smart routing"/>
          <p:cNvSpPr txBox="1"/>
          <p:nvPr/>
        </p:nvSpPr>
        <p:spPr>
          <a:xfrm>
            <a:off x="1024128" y="395020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Smart routing</a:t>
            </a:r>
            <a:endParaRPr lang="en-US" sz="1400" dirty="0"/>
          </a:p>
        </p:txBody>
      </p:sp>
      <p:sp>
        <p:nvSpPr>
          <p:cNvPr id="8" name="Body Smart routing"/>
          <p:cNvSpPr txBox="1"/>
          <p:nvPr/>
        </p:nvSpPr>
        <p:spPr>
          <a:xfrm>
            <a:off x="1024128" y="422452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 supervisor for a holistic view, or a specialist for a focused review.</a:t>
            </a:r>
            <a:endParaRPr lang="en-US" sz="1100" dirty="0"/>
          </a:p>
        </p:txBody>
      </p:sp>
      <p:sp>
        <p:nvSpPr>
          <p:cNvPr id="9" name="Icon Evidence-backed findings bg"/>
          <p:cNvSpPr/>
          <p:nvPr/>
        </p:nvSpPr>
        <p:spPr>
          <a:xfrm>
            <a:off x="3246120" y="3977640"/>
            <a:ext cx="457200" cy="457200"/>
          </a:xfrm>
          <a:prstGeom prst="ellipse">
            <a:avLst/>
          </a:prstGeom>
          <a:solidFill>
            <a:schemeClr val="accent2">
              <a:alpha val="15000"/>
            </a:schemeClr>
          </a:solidFill>
        </p:spPr>
      </p:sp>
      <p:pic>
        <p:nvPicPr>
          <p:cNvPr id="10" name="Icon Evidence-backed findings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564" y="4101084"/>
            <a:ext cx="210312" cy="210312"/>
          </a:xfrm>
          <a:prstGeom prst="rect">
            <a:avLst/>
          </a:prstGeom>
        </p:spPr>
      </p:pic>
      <p:sp>
        <p:nvSpPr>
          <p:cNvPr id="11" name="Head Evidence-backed findings"/>
          <p:cNvSpPr txBox="1"/>
          <p:nvPr/>
        </p:nvSpPr>
        <p:spPr>
          <a:xfrm>
            <a:off x="3813048" y="395020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Evidence-backed findings</a:t>
            </a:r>
            <a:endParaRPr lang="en-US" sz="1400" dirty="0"/>
          </a:p>
        </p:txBody>
      </p:sp>
      <p:sp>
        <p:nvSpPr>
          <p:cNvPr id="12" name="Body Evidence-backed findings"/>
          <p:cNvSpPr txBox="1"/>
          <p:nvPr/>
        </p:nvSpPr>
        <p:spPr>
          <a:xfrm>
            <a:off x="3813048" y="422452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Every finding comes from approved policy and carries an Evidence ID.</a:t>
            </a:r>
            <a:endParaRPr lang="en-US" sz="1100" dirty="0"/>
          </a:p>
        </p:txBody>
      </p:sp>
      <p:sp>
        <p:nvSpPr>
          <p:cNvPr id="13" name="Icon Safety guardrail bg"/>
          <p:cNvSpPr/>
          <p:nvPr/>
        </p:nvSpPr>
        <p:spPr>
          <a:xfrm>
            <a:off x="6035040" y="3977640"/>
            <a:ext cx="457200" cy="457200"/>
          </a:xfrm>
          <a:prstGeom prst="ellipse">
            <a:avLst/>
          </a:prstGeom>
          <a:solidFill>
            <a:schemeClr val="accent3">
              <a:alpha val="15000"/>
            </a:schemeClr>
          </a:solidFill>
        </p:spPr>
      </p:sp>
      <p:pic>
        <p:nvPicPr>
          <p:cNvPr id="14" name="Icon Safety guardrail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484" y="4101084"/>
            <a:ext cx="210312" cy="210312"/>
          </a:xfrm>
          <a:prstGeom prst="rect">
            <a:avLst/>
          </a:prstGeom>
        </p:spPr>
      </p:pic>
      <p:sp>
        <p:nvSpPr>
          <p:cNvPr id="15" name="Head Safety guardrail"/>
          <p:cNvSpPr txBox="1"/>
          <p:nvPr/>
        </p:nvSpPr>
        <p:spPr>
          <a:xfrm>
            <a:off x="6601968" y="395020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Safety guardrail</a:t>
            </a:r>
            <a:endParaRPr lang="en-US" sz="1400" dirty="0"/>
          </a:p>
        </p:txBody>
      </p:sp>
      <p:sp>
        <p:nvSpPr>
          <p:cNvPr id="16" name="Body Safety guardrail"/>
          <p:cNvSpPr txBox="1"/>
          <p:nvPr/>
        </p:nvSpPr>
        <p:spPr>
          <a:xfrm>
            <a:off x="6601968" y="422452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Output must trace back to evidence before it is handed off.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257810" y="161925"/>
            <a:ext cx="8682355" cy="584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>
                <a:sym typeface="+mn-ea"/>
              </a:rPr>
              <a:t>What CareOps produces</a:t>
            </a:r>
            <a:endParaRPr lang="en-US" sz="3000" dirty="0"/>
          </a:p>
        </p:txBody>
      </p:sp>
      <p:sp>
        <p:nvSpPr>
          <p:cNvPr id="29" name="Views label"/>
          <p:cNvSpPr txBox="1"/>
          <p:nvPr/>
        </p:nvSpPr>
        <p:spPr>
          <a:xfrm>
            <a:off x="4596765" y="840867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chemeClr val="accent5"/>
                </a:solidFill>
              </a:rPr>
              <a:t>STAKEHOLDER VIEWS · SAME DECISION, EACH AUDIENCE</a:t>
            </a:r>
            <a:endParaRPr lang="en-US" sz="1000" b="1" dirty="0"/>
          </a:p>
        </p:txBody>
      </p:sp>
      <p:sp>
        <p:nvSpPr>
          <p:cNvPr id="30" name="View card Member"/>
          <p:cNvSpPr/>
          <p:nvPr/>
        </p:nvSpPr>
        <p:spPr>
          <a:xfrm>
            <a:off x="4642485" y="1206500"/>
            <a:ext cx="2103120" cy="169164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31" name="Icon Member bg"/>
          <p:cNvSpPr/>
          <p:nvPr/>
        </p:nvSpPr>
        <p:spPr>
          <a:xfrm>
            <a:off x="4752213" y="1297940"/>
            <a:ext cx="347472" cy="347472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</p:sp>
      <p:pic>
        <p:nvPicPr>
          <p:cNvPr id="32" name="Icon Member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030" y="1391757"/>
            <a:ext cx="159837" cy="159837"/>
          </a:xfrm>
          <a:prstGeom prst="rect">
            <a:avLst/>
          </a:prstGeom>
        </p:spPr>
      </p:pic>
      <p:sp>
        <p:nvSpPr>
          <p:cNvPr id="33" name="Head Member"/>
          <p:cNvSpPr txBox="1"/>
          <p:nvPr/>
        </p:nvSpPr>
        <p:spPr>
          <a:xfrm>
            <a:off x="5191125" y="1279652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Member</a:t>
            </a:r>
            <a:endParaRPr lang="en-US" sz="1300" dirty="0"/>
          </a:p>
        </p:txBody>
      </p:sp>
      <p:sp>
        <p:nvSpPr>
          <p:cNvPr id="34" name="Tag Member"/>
          <p:cNvSpPr txBox="1"/>
          <p:nvPr/>
        </p:nvSpPr>
        <p:spPr>
          <a:xfrm>
            <a:off x="5191125" y="1508252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Personalized follow-up</a:t>
            </a:r>
            <a:endParaRPr lang="en-US" sz="1000" dirty="0"/>
          </a:p>
        </p:txBody>
      </p:sp>
      <p:sp>
        <p:nvSpPr>
          <p:cNvPr id="35" name="Message Member"/>
          <p:cNvSpPr txBox="1"/>
          <p:nvPr/>
        </p:nvSpPr>
        <p:spPr>
          <a:xfrm>
            <a:off x="4752213" y="1773428"/>
            <a:ext cx="1883664" cy="10789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Your recent health data shows high blood sugar and blood pressure, and it's been a while since your last follow-up. Your care team will reach out to help you get back on track with your Type 2 Diabetes management.</a:t>
            </a:r>
            <a:endParaRPr lang="en-US" sz="1000" dirty="0"/>
          </a:p>
        </p:txBody>
      </p:sp>
      <p:sp>
        <p:nvSpPr>
          <p:cNvPr id="36" name="View card Care Team"/>
          <p:cNvSpPr/>
          <p:nvPr/>
        </p:nvSpPr>
        <p:spPr>
          <a:xfrm>
            <a:off x="6837045" y="1206500"/>
            <a:ext cx="21031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37" name="Icon Care Team bg"/>
          <p:cNvSpPr/>
          <p:nvPr/>
        </p:nvSpPr>
        <p:spPr>
          <a:xfrm>
            <a:off x="6946773" y="1297940"/>
            <a:ext cx="347472" cy="347472"/>
          </a:xfrm>
          <a:prstGeom prst="ellipse">
            <a:avLst/>
          </a:prstGeom>
          <a:solidFill>
            <a:schemeClr val="accent2">
              <a:alpha val="15000"/>
            </a:schemeClr>
          </a:solidFill>
        </p:spPr>
      </p:sp>
      <p:pic>
        <p:nvPicPr>
          <p:cNvPr id="38" name="Icon Care Team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590" y="1391757"/>
            <a:ext cx="159837" cy="159837"/>
          </a:xfrm>
          <a:prstGeom prst="rect">
            <a:avLst/>
          </a:prstGeom>
        </p:spPr>
      </p:pic>
      <p:sp>
        <p:nvSpPr>
          <p:cNvPr id="39" name="Head Care Team"/>
          <p:cNvSpPr txBox="1"/>
          <p:nvPr/>
        </p:nvSpPr>
        <p:spPr>
          <a:xfrm>
            <a:off x="7385685" y="1279652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Care Team</a:t>
            </a:r>
            <a:endParaRPr lang="en-US" sz="1300" dirty="0"/>
          </a:p>
        </p:txBody>
      </p:sp>
      <p:sp>
        <p:nvSpPr>
          <p:cNvPr id="40" name="Tag Care Team"/>
          <p:cNvSpPr txBox="1"/>
          <p:nvPr/>
        </p:nvSpPr>
        <p:spPr>
          <a:xfrm>
            <a:off x="7385685" y="1508252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Review and act</a:t>
            </a:r>
            <a:endParaRPr lang="en-US" sz="1000" dirty="0"/>
          </a:p>
        </p:txBody>
      </p:sp>
      <p:sp>
        <p:nvSpPr>
          <p:cNvPr id="41" name="Message Care Team"/>
          <p:cNvSpPr txBox="1"/>
          <p:nvPr/>
        </p:nvSpPr>
        <p:spPr>
          <a:xfrm>
            <a:off x="6946773" y="1773428"/>
            <a:ext cx="1883664" cy="10789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Aarav Sharma (P0001) has uncontrolled Type 2 Diabetes (HbA1c 9.9%, BP 174 mmHg) and an overdue follow-up (251 days). Please review clinical findings and arrange follow-up.</a:t>
            </a:r>
            <a:endParaRPr lang="en-US" sz="1000" dirty="0"/>
          </a:p>
        </p:txBody>
      </p:sp>
      <p:sp>
        <p:nvSpPr>
          <p:cNvPr id="42" name="View card Navigator"/>
          <p:cNvSpPr/>
          <p:nvPr/>
        </p:nvSpPr>
        <p:spPr>
          <a:xfrm>
            <a:off x="4642485" y="2971292"/>
            <a:ext cx="21031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43" name="Icon Navigator bg"/>
          <p:cNvSpPr/>
          <p:nvPr/>
        </p:nvSpPr>
        <p:spPr>
          <a:xfrm>
            <a:off x="4752213" y="3062732"/>
            <a:ext cx="347472" cy="347472"/>
          </a:xfrm>
          <a:prstGeom prst="ellipse">
            <a:avLst/>
          </a:prstGeom>
          <a:solidFill>
            <a:schemeClr val="accent4">
              <a:alpha val="15000"/>
            </a:schemeClr>
          </a:solidFill>
        </p:spPr>
      </p:sp>
      <p:pic>
        <p:nvPicPr>
          <p:cNvPr id="44" name="Icon Navigato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030" y="3156549"/>
            <a:ext cx="159837" cy="159837"/>
          </a:xfrm>
          <a:prstGeom prst="rect">
            <a:avLst/>
          </a:prstGeom>
        </p:spPr>
      </p:pic>
      <p:sp>
        <p:nvSpPr>
          <p:cNvPr id="45" name="Head Navigator"/>
          <p:cNvSpPr txBox="1"/>
          <p:nvPr/>
        </p:nvSpPr>
        <p:spPr>
          <a:xfrm>
            <a:off x="5191125" y="3044444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Navigator</a:t>
            </a:r>
            <a:endParaRPr lang="en-US" sz="1300" dirty="0"/>
          </a:p>
        </p:txBody>
      </p:sp>
      <p:sp>
        <p:nvSpPr>
          <p:cNvPr id="46" name="Tag Navigator"/>
          <p:cNvSpPr txBox="1"/>
          <p:nvPr/>
        </p:nvSpPr>
        <p:spPr>
          <a:xfrm>
            <a:off x="5191125" y="3273044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Access and navigation</a:t>
            </a:r>
            <a:endParaRPr lang="en-US" sz="1000" dirty="0"/>
          </a:p>
        </p:txBody>
      </p:sp>
      <p:sp>
        <p:nvSpPr>
          <p:cNvPr id="47" name="Message Navigator"/>
          <p:cNvSpPr txBox="1"/>
          <p:nvPr/>
        </p:nvSpPr>
        <p:spPr>
          <a:xfrm>
            <a:off x="4752213" y="3538220"/>
            <a:ext cx="1883664" cy="10789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Aarav Sharma (P0001) has uncontrolled Type 2 Diabetes and a significant care gap. Support appointment access and review navigation pathway for chronic condition management.</a:t>
            </a:r>
            <a:endParaRPr lang="en-US" sz="1000" dirty="0"/>
          </a:p>
        </p:txBody>
      </p:sp>
      <p:sp>
        <p:nvSpPr>
          <p:cNvPr id="48" name="View card Health Plan"/>
          <p:cNvSpPr/>
          <p:nvPr/>
        </p:nvSpPr>
        <p:spPr>
          <a:xfrm>
            <a:off x="6837045" y="2971292"/>
            <a:ext cx="210312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49" name="Icon Health Plan bg"/>
          <p:cNvSpPr/>
          <p:nvPr/>
        </p:nvSpPr>
        <p:spPr>
          <a:xfrm>
            <a:off x="6946773" y="3062732"/>
            <a:ext cx="347472" cy="347472"/>
          </a:xfrm>
          <a:prstGeom prst="ellipse">
            <a:avLst/>
          </a:prstGeom>
          <a:solidFill>
            <a:schemeClr val="accent3">
              <a:alpha val="15000"/>
            </a:schemeClr>
          </a:solidFill>
        </p:spPr>
      </p:sp>
      <p:pic>
        <p:nvPicPr>
          <p:cNvPr id="50" name="Icon Health Pla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590" y="3156549"/>
            <a:ext cx="159837" cy="159837"/>
          </a:xfrm>
          <a:prstGeom prst="rect">
            <a:avLst/>
          </a:prstGeom>
        </p:spPr>
      </p:pic>
      <p:sp>
        <p:nvSpPr>
          <p:cNvPr id="51" name="Head Health Plan"/>
          <p:cNvSpPr txBox="1"/>
          <p:nvPr/>
        </p:nvSpPr>
        <p:spPr>
          <a:xfrm>
            <a:off x="7385685" y="3044444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Health Plan</a:t>
            </a:r>
            <a:endParaRPr lang="en-US" sz="1300" dirty="0"/>
          </a:p>
        </p:txBody>
      </p:sp>
      <p:sp>
        <p:nvSpPr>
          <p:cNvPr id="52" name="Tag Health Plan"/>
          <p:cNvSpPr txBox="1"/>
          <p:nvPr/>
        </p:nvSpPr>
        <p:spPr>
          <a:xfrm>
            <a:off x="7385685" y="3273044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Status and oversight</a:t>
            </a:r>
            <a:endParaRPr lang="en-US" sz="1000" dirty="0"/>
          </a:p>
        </p:txBody>
      </p:sp>
      <p:sp>
        <p:nvSpPr>
          <p:cNvPr id="53" name="Message Health Plan"/>
          <p:cNvSpPr txBox="1"/>
          <p:nvPr/>
        </p:nvSpPr>
        <p:spPr>
          <a:xfrm>
            <a:off x="6946773" y="3538220"/>
            <a:ext cx="1883664" cy="10789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Member P0001, Aarav Sharma, has uncontrolled Type 2 Diabetes with clinical concerns (HbA1c 9.9%, BP 174 mmHg) and a 251-day care continuity gap. Care team and navigation follow-up initiated.</a:t>
            </a:r>
            <a:endParaRPr lang="en-US" sz="10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74405" y="4845812"/>
            <a:ext cx="36576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63" name="Result card"/>
          <p:cNvSpPr/>
          <p:nvPr/>
        </p:nvSpPr>
        <p:spPr>
          <a:xfrm>
            <a:off x="152400" y="1115060"/>
            <a:ext cx="4353560" cy="3783965"/>
          </a:xfrm>
          <a:prstGeom prst="roundRect">
            <a:avLst>
              <a:gd name="adj" fmla="val 3093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61" name="Result label"/>
          <p:cNvSpPr txBox="1"/>
          <p:nvPr/>
        </p:nvSpPr>
        <p:spPr>
          <a:xfrm>
            <a:off x="269875" y="852805"/>
            <a:ext cx="359219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5"/>
                </a:solidFill>
              </a:rPr>
              <a:t>ASSESSMENT RESULT</a:t>
            </a:r>
            <a:endParaRPr lang="en-US" sz="1000" dirty="0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5"/>
          <a:srcRect t="3498"/>
          <a:stretch>
            <a:fillRect/>
          </a:stretch>
        </p:blipFill>
        <p:spPr>
          <a:xfrm>
            <a:off x="220980" y="1179195"/>
            <a:ext cx="4185285" cy="3625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teams use the output</a:t>
            </a:r>
            <a:endParaRPr lang="en-US" sz="3000" dirty="0"/>
          </a:p>
        </p:txBody>
      </p:sp>
      <p:sp>
        <p:nvSpPr>
          <p:cNvPr id="3" name="Col output"/>
          <p:cNvSpPr txBox="1"/>
          <p:nvPr/>
        </p:nvSpPr>
        <p:spPr>
          <a:xfrm>
            <a:off x="457200" y="9601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5"/>
                </a:solidFill>
              </a:rPr>
              <a:t>OUTPUT</a:t>
            </a:r>
            <a:endParaRPr lang="en-US" sz="1000" dirty="0"/>
          </a:p>
        </p:txBody>
      </p:sp>
      <p:sp>
        <p:nvSpPr>
          <p:cNvPr id="4" name="Col use"/>
          <p:cNvSpPr txBox="1"/>
          <p:nvPr/>
        </p:nvSpPr>
        <p:spPr>
          <a:xfrm>
            <a:off x="3840480" y="9601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5"/>
                </a:solidFill>
              </a:rPr>
              <a:t>BUSINESS USE</a:t>
            </a:r>
            <a:endParaRPr lang="en-US" sz="1000" dirty="0"/>
          </a:p>
        </p:txBody>
      </p:sp>
      <p:sp>
        <p:nvSpPr>
          <p:cNvPr id="5" name="Output row 1"/>
          <p:cNvSpPr/>
          <p:nvPr/>
        </p:nvSpPr>
        <p:spPr>
          <a:xfrm>
            <a:off x="457200" y="1234440"/>
            <a:ext cx="310896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6" name="Icon row 1 bg"/>
          <p:cNvSpPr/>
          <p:nvPr/>
        </p:nvSpPr>
        <p:spPr>
          <a:xfrm>
            <a:off x="566928" y="1325880"/>
            <a:ext cx="411480" cy="411480"/>
          </a:xfrm>
          <a:prstGeom prst="ellipse">
            <a:avLst/>
          </a:prstGeom>
          <a:solidFill>
            <a:schemeClr val="accent3">
              <a:alpha val="15000"/>
            </a:schemeClr>
          </a:solidFill>
        </p:spPr>
      </p:sp>
      <p:pic>
        <p:nvPicPr>
          <p:cNvPr id="7" name="Icon row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028" y="1436980"/>
            <a:ext cx="189281" cy="189281"/>
          </a:xfrm>
          <a:prstGeom prst="rect">
            <a:avLst/>
          </a:prstGeom>
        </p:spPr>
      </p:pic>
      <p:sp>
        <p:nvSpPr>
          <p:cNvPr id="8" name="Output 1"/>
          <p:cNvSpPr txBox="1"/>
          <p:nvPr/>
        </p:nvSpPr>
        <p:spPr>
          <a:xfrm>
            <a:off x="1097280" y="123444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Priority and summary</a:t>
            </a:r>
            <a:endParaRPr lang="en-US" sz="1300" dirty="0"/>
          </a:p>
        </p:txBody>
      </p:sp>
      <p:sp>
        <p:nvSpPr>
          <p:cNvPr id="9" name="Arrow 1"/>
          <p:cNvSpPr/>
          <p:nvPr/>
        </p:nvSpPr>
        <p:spPr>
          <a:xfrm>
            <a:off x="3639312" y="1531620"/>
            <a:ext cx="12801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Use row 1"/>
          <p:cNvSpPr/>
          <p:nvPr/>
        </p:nvSpPr>
        <p:spPr>
          <a:xfrm>
            <a:off x="3840480" y="1234440"/>
            <a:ext cx="484632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1" name="Use 1"/>
          <p:cNvSpPr txBox="1"/>
          <p:nvPr/>
        </p:nvSpPr>
        <p:spPr>
          <a:xfrm>
            <a:off x="4023360" y="1234440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Order the outreach queue so the most urgent members are reviewed first.</a:t>
            </a:r>
            <a:endParaRPr lang="en-US" sz="1200" dirty="0"/>
          </a:p>
        </p:txBody>
      </p:sp>
      <p:sp>
        <p:nvSpPr>
          <p:cNvPr id="12" name="Output row 2"/>
          <p:cNvSpPr/>
          <p:nvPr/>
        </p:nvSpPr>
        <p:spPr>
          <a:xfrm>
            <a:off x="457200" y="1938528"/>
            <a:ext cx="310896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3" name="Icon row 2 bg"/>
          <p:cNvSpPr/>
          <p:nvPr/>
        </p:nvSpPr>
        <p:spPr>
          <a:xfrm>
            <a:off x="566928" y="2029968"/>
            <a:ext cx="411480" cy="411480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</p:sp>
      <p:pic>
        <p:nvPicPr>
          <p:cNvPr id="14" name="Icon row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8" y="2141068"/>
            <a:ext cx="189281" cy="189281"/>
          </a:xfrm>
          <a:prstGeom prst="rect">
            <a:avLst/>
          </a:prstGeom>
        </p:spPr>
      </p:pic>
      <p:sp>
        <p:nvSpPr>
          <p:cNvPr id="15" name="Output 2"/>
          <p:cNvSpPr txBox="1"/>
          <p:nvPr/>
        </p:nvSpPr>
        <p:spPr>
          <a:xfrm>
            <a:off x="1097280" y="1938528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Findings and Evidence IDs</a:t>
            </a:r>
            <a:endParaRPr lang="en-US" sz="1300" dirty="0"/>
          </a:p>
        </p:txBody>
      </p:sp>
      <p:sp>
        <p:nvSpPr>
          <p:cNvPr id="16" name="Arrow 2"/>
          <p:cNvSpPr/>
          <p:nvPr/>
        </p:nvSpPr>
        <p:spPr>
          <a:xfrm>
            <a:off x="3639312" y="2235708"/>
            <a:ext cx="12801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Use row 2"/>
          <p:cNvSpPr/>
          <p:nvPr/>
        </p:nvSpPr>
        <p:spPr>
          <a:xfrm>
            <a:off x="3840480" y="1938528"/>
            <a:ext cx="484632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8" name="Use 2"/>
          <p:cNvSpPr txBox="1"/>
          <p:nvPr/>
        </p:nvSpPr>
        <p:spPr>
          <a:xfrm>
            <a:off x="4023360" y="1938528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Explain why a member was flagged and keep an auditable record for compliance and risk-adjustment documentation.</a:t>
            </a:r>
            <a:endParaRPr lang="en-US" sz="1200" dirty="0"/>
          </a:p>
        </p:txBody>
      </p:sp>
      <p:sp>
        <p:nvSpPr>
          <p:cNvPr id="19" name="Output row 3"/>
          <p:cNvSpPr/>
          <p:nvPr/>
        </p:nvSpPr>
        <p:spPr>
          <a:xfrm>
            <a:off x="457200" y="2642616"/>
            <a:ext cx="310896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0" name="Icon row 3 bg"/>
          <p:cNvSpPr/>
          <p:nvPr/>
        </p:nvSpPr>
        <p:spPr>
          <a:xfrm>
            <a:off x="566928" y="2734056"/>
            <a:ext cx="411480" cy="411480"/>
          </a:xfrm>
          <a:prstGeom prst="ellipse">
            <a:avLst/>
          </a:prstGeom>
          <a:solidFill>
            <a:schemeClr val="accent2">
              <a:alpha val="15000"/>
            </a:schemeClr>
          </a:solidFill>
        </p:spPr>
      </p:sp>
      <p:pic>
        <p:nvPicPr>
          <p:cNvPr id="21" name="Icon row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8" y="2845156"/>
            <a:ext cx="189281" cy="189281"/>
          </a:xfrm>
          <a:prstGeom prst="rect">
            <a:avLst/>
          </a:prstGeom>
        </p:spPr>
      </p:pic>
      <p:sp>
        <p:nvSpPr>
          <p:cNvPr id="22" name="Output 3"/>
          <p:cNvSpPr txBox="1"/>
          <p:nvPr/>
        </p:nvSpPr>
        <p:spPr>
          <a:xfrm>
            <a:off x="1097280" y="2642616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Clinical thresholds</a:t>
            </a:r>
            <a:endParaRPr lang="en-US" sz="1300" dirty="0"/>
          </a:p>
        </p:txBody>
      </p:sp>
      <p:sp>
        <p:nvSpPr>
          <p:cNvPr id="23" name="Arrow 3"/>
          <p:cNvSpPr/>
          <p:nvPr/>
        </p:nvSpPr>
        <p:spPr>
          <a:xfrm>
            <a:off x="3639312" y="2939796"/>
            <a:ext cx="12801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Use row 3"/>
          <p:cNvSpPr/>
          <p:nvPr/>
        </p:nvSpPr>
        <p:spPr>
          <a:xfrm>
            <a:off x="3840480" y="2642616"/>
            <a:ext cx="484632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5" name="Use 3"/>
          <p:cNvSpPr txBox="1"/>
          <p:nvPr/>
        </p:nvSpPr>
        <p:spPr>
          <a:xfrm>
            <a:off x="4023360" y="2642616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Give navigators the clinical data (for example, HbA1c) to review C-SNP eligibility and support an SEP.</a:t>
            </a:r>
            <a:endParaRPr lang="en-US" sz="1200" dirty="0"/>
          </a:p>
        </p:txBody>
      </p:sp>
      <p:sp>
        <p:nvSpPr>
          <p:cNvPr id="26" name="Output row 4"/>
          <p:cNvSpPr/>
          <p:nvPr/>
        </p:nvSpPr>
        <p:spPr>
          <a:xfrm>
            <a:off x="457200" y="3346704"/>
            <a:ext cx="310896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7" name="Icon row 4 bg"/>
          <p:cNvSpPr/>
          <p:nvPr/>
        </p:nvSpPr>
        <p:spPr>
          <a:xfrm>
            <a:off x="566928" y="3438144"/>
            <a:ext cx="411480" cy="411480"/>
          </a:xfrm>
          <a:prstGeom prst="ellipse">
            <a:avLst/>
          </a:prstGeom>
          <a:solidFill>
            <a:schemeClr val="accent4">
              <a:alpha val="15000"/>
            </a:schemeClr>
          </a:solidFill>
        </p:spPr>
      </p:sp>
      <p:pic>
        <p:nvPicPr>
          <p:cNvPr id="28" name="Icon row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8" y="3549244"/>
            <a:ext cx="189281" cy="189281"/>
          </a:xfrm>
          <a:prstGeom prst="rect">
            <a:avLst/>
          </a:prstGeom>
        </p:spPr>
      </p:pic>
      <p:sp>
        <p:nvSpPr>
          <p:cNvPr id="29" name="Output 4"/>
          <p:cNvSpPr txBox="1"/>
          <p:nvPr/>
        </p:nvSpPr>
        <p:spPr>
          <a:xfrm>
            <a:off x="1097280" y="3346704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Recommended actions</a:t>
            </a:r>
            <a:endParaRPr lang="en-US" sz="1300" dirty="0"/>
          </a:p>
        </p:txBody>
      </p:sp>
      <p:sp>
        <p:nvSpPr>
          <p:cNvPr id="30" name="Arrow 4"/>
          <p:cNvSpPr/>
          <p:nvPr/>
        </p:nvSpPr>
        <p:spPr>
          <a:xfrm>
            <a:off x="3639312" y="3643884"/>
            <a:ext cx="12801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Use row 4"/>
          <p:cNvSpPr/>
          <p:nvPr/>
        </p:nvSpPr>
        <p:spPr>
          <a:xfrm>
            <a:off x="3840480" y="3346704"/>
            <a:ext cx="484632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32" name="Use 4"/>
          <p:cNvSpPr txBox="1"/>
          <p:nvPr/>
        </p:nvSpPr>
        <p:spPr>
          <a:xfrm>
            <a:off x="4023360" y="3346704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Direct each follow-up to the right team: care team, navigator or health plan.</a:t>
            </a:r>
            <a:endParaRPr lang="en-US" sz="1200" dirty="0"/>
          </a:p>
        </p:txBody>
      </p:sp>
      <p:sp>
        <p:nvSpPr>
          <p:cNvPr id="33" name="Output row 5"/>
          <p:cNvSpPr/>
          <p:nvPr/>
        </p:nvSpPr>
        <p:spPr>
          <a:xfrm>
            <a:off x="457200" y="4050792"/>
            <a:ext cx="310896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34" name="Icon row 5 bg"/>
          <p:cNvSpPr/>
          <p:nvPr/>
        </p:nvSpPr>
        <p:spPr>
          <a:xfrm>
            <a:off x="566928" y="4142232"/>
            <a:ext cx="411480" cy="411480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</p:sp>
      <p:pic>
        <p:nvPicPr>
          <p:cNvPr id="35" name="Icon row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28" y="4253332"/>
            <a:ext cx="189281" cy="189281"/>
          </a:xfrm>
          <a:prstGeom prst="rect">
            <a:avLst/>
          </a:prstGeom>
        </p:spPr>
      </p:pic>
      <p:sp>
        <p:nvSpPr>
          <p:cNvPr id="36" name="Output 5"/>
          <p:cNvSpPr txBox="1"/>
          <p:nvPr/>
        </p:nvSpPr>
        <p:spPr>
          <a:xfrm>
            <a:off x="1097280" y="4050792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Audience views and API</a:t>
            </a:r>
            <a:endParaRPr lang="en-US" sz="1300" dirty="0"/>
          </a:p>
        </p:txBody>
      </p:sp>
      <p:sp>
        <p:nvSpPr>
          <p:cNvPr id="37" name="Arrow 5"/>
          <p:cNvSpPr/>
          <p:nvPr/>
        </p:nvSpPr>
        <p:spPr>
          <a:xfrm>
            <a:off x="3639312" y="4347972"/>
            <a:ext cx="12801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Use row 5"/>
          <p:cNvSpPr/>
          <p:nvPr/>
        </p:nvSpPr>
        <p:spPr>
          <a:xfrm>
            <a:off x="3840480" y="4050792"/>
            <a:ext cx="4846320" cy="594360"/>
          </a:xfrm>
          <a:prstGeom prst="roundRect">
            <a:avLst>
              <a:gd name="adj" fmla="val 18462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39" name="Use 5"/>
          <p:cNvSpPr txBox="1"/>
          <p:nvPr/>
        </p:nvSpPr>
        <p:spPr>
          <a:xfrm>
            <a:off x="4023360" y="4050792"/>
            <a:ext cx="4526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Share consistent messaging with members and teams, and feed existing workflows through the API.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141732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640080" y="242316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CareOps · From complex data to actionable decisions.</a:t>
            </a:r>
            <a:endParaRPr lang="en-US" sz="2200" dirty="0"/>
          </a:p>
        </p:txBody>
      </p:sp>
      <p:sp>
        <p:nvSpPr>
          <p:cNvPr id="4" name="Big circle"/>
          <p:cNvSpPr/>
          <p:nvPr/>
        </p:nvSpPr>
        <p:spPr>
          <a:xfrm>
            <a:off x="5760720" y="777240"/>
            <a:ext cx="3017520" cy="3017520"/>
          </a:xfrm>
          <a:prstGeom prst="ellipse">
            <a:avLst/>
          </a:prstGeom>
          <a:solidFill>
            <a:schemeClr val="accent6"/>
          </a:solidFill>
        </p:spPr>
      </p:sp>
      <p:sp>
        <p:nvSpPr>
          <p:cNvPr id="5" name="Logo circle"/>
          <p:cNvSpPr/>
          <p:nvPr/>
        </p:nvSpPr>
        <p:spPr>
          <a:xfrm>
            <a:off x="6172200" y="1188720"/>
            <a:ext cx="2194560" cy="2194560"/>
          </a:xfrm>
          <a:prstGeom prst="ellipse">
            <a:avLst/>
          </a:prstGeom>
          <a:solidFill>
            <a:schemeClr val="bg1"/>
          </a:solidFill>
          <a:effectLst>
            <a:outerShdw blurRad="127000" dist="25400" dir="5400000" algn="bl" rotWithShape="0">
              <a:srgbClr val="94A3B8">
                <a:alpha val="25000"/>
              </a:srgbClr>
            </a:outerShdw>
          </a:effectLst>
        </p:spPr>
      </p:sp>
      <p:pic>
        <p:nvPicPr>
          <p:cNvPr id="6" name="CareOps logo mark" descr="CareOps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1371600" cy="1371600"/>
          </a:xfrm>
          <a:prstGeom prst="rect">
            <a:avLst/>
          </a:prstGeom>
        </p:spPr>
      </p:pic>
      <p:sp>
        <p:nvSpPr>
          <p:cNvPr id="7" name="Dot 1"/>
          <p:cNvSpPr/>
          <p:nvPr/>
        </p:nvSpPr>
        <p:spPr>
          <a:xfrm>
            <a:off x="8321040" y="548640"/>
            <a:ext cx="411480" cy="411480"/>
          </a:xfrm>
          <a:prstGeom prst="ellipse">
            <a:avLst/>
          </a:prstGeom>
          <a:solidFill>
            <a:schemeClr val="accent1">
              <a:alpha val="35000"/>
            </a:schemeClr>
          </a:solidFill>
        </p:spPr>
      </p:sp>
      <p:sp>
        <p:nvSpPr>
          <p:cNvPr id="8" name="Dot 2"/>
          <p:cNvSpPr/>
          <p:nvPr/>
        </p:nvSpPr>
        <p:spPr>
          <a:xfrm>
            <a:off x="5669280" y="3657600"/>
            <a:ext cx="640080" cy="640080"/>
          </a:xfrm>
          <a:prstGeom prst="ellipse">
            <a:avLst/>
          </a:prstGeom>
          <a:solidFill>
            <a:schemeClr val="accent6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areOps Light">
  <a:themeElements>
    <a:clrScheme name="CareOps Light">
      <a:dk1>
        <a:srgbClr val="0F172A"/>
      </a:dk1>
      <a:lt1>
        <a:srgbClr val="FFFFFF"/>
      </a:lt1>
      <a:dk2>
        <a:srgbClr val="475569"/>
      </a:dk2>
      <a:lt2>
        <a:srgbClr val="EAF1FF"/>
      </a:lt2>
      <a:accent1>
        <a:srgbClr val="2563EB"/>
      </a:accent1>
      <a:accent2>
        <a:srgbClr val="059669"/>
      </a:accent2>
      <a:accent3>
        <a:srgbClr val="B45309"/>
      </a:accent3>
      <a:accent4>
        <a:srgbClr val="6D28D9"/>
      </a:accent4>
      <a:accent5>
        <a:srgbClr val="64748B"/>
      </a:accent5>
      <a:accent6>
        <a:srgbClr val="DBEAFE"/>
      </a:accent6>
      <a:hlink>
        <a:srgbClr val="2563EB"/>
      </a:hlink>
      <a:folHlink>
        <a:srgbClr val="6D28D9"/>
      </a:folHlink>
    </a:clrScheme>
    <a:fontScheme name="CareOps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reOps Light">
  <a:themeElements>
    <a:clrScheme name="CareOps Light">
      <a:dk1>
        <a:srgbClr val="0F172A"/>
      </a:dk1>
      <a:lt1>
        <a:srgbClr val="FFFFFF"/>
      </a:lt1>
      <a:dk2>
        <a:srgbClr val="475569"/>
      </a:dk2>
      <a:lt2>
        <a:srgbClr val="EAF1FF"/>
      </a:lt2>
      <a:accent1>
        <a:srgbClr val="2563EB"/>
      </a:accent1>
      <a:accent2>
        <a:srgbClr val="059669"/>
      </a:accent2>
      <a:accent3>
        <a:srgbClr val="B45309"/>
      </a:accent3>
      <a:accent4>
        <a:srgbClr val="6D28D9"/>
      </a:accent4>
      <a:accent5>
        <a:srgbClr val="64748B"/>
      </a:accent5>
      <a:accent6>
        <a:srgbClr val="DBEAFE"/>
      </a:accent6>
      <a:hlink>
        <a:srgbClr val="2563EB"/>
      </a:hlink>
      <a:folHlink>
        <a:srgbClr val="6D28D9"/>
      </a:folHlink>
    </a:clrScheme>
    <a:fontScheme name="CareOps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2686</Words>
  <Application>WPS Presentation</Application>
  <PresentationFormat>On-screen Show (16:9)</PresentationFormat>
  <Paragraphs>118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SimSun</vt:lpstr>
      <vt:lpstr>Wingdings</vt:lpstr>
      <vt:lpstr>Calibri</vt:lpstr>
      <vt:lpstr>Microsoft YaHei</vt:lpstr>
      <vt:lpstr>Arial Unicode MS</vt:lpstr>
      <vt:lpstr>CareOps Light</vt:lpstr>
      <vt:lpstr>CareOps</vt:lpstr>
      <vt:lpstr>The chronic care challenge</vt:lpstr>
      <vt:lpstr>How CareOps works</vt:lpstr>
      <vt:lpstr>How teams use the output</vt:lpstr>
      <vt:lpstr>How teams use the output</vt:lpstr>
      <vt:lpstr>Thank you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CareOps</dc:title>
  <dc:creator>CareOps</dc:creator>
  <dc:subject>PptxGenJS Presentation</dc:subject>
  <cp:lastModifiedBy>shib kumar saraf</cp:lastModifiedBy>
  <cp:revision>3</cp:revision>
  <dcterms:created xsi:type="dcterms:W3CDTF">2026-10-04T16:39:00Z</dcterms:created>
  <dcterms:modified xsi:type="dcterms:W3CDTF">2026-10-04T17:23:38Z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94821AB4C44D4072B712C38A7A4EF90F_12</vt:lpwstr>
  </property>
</Properties>
</file>